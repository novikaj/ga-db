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Won ARR / spend (ROAS)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Won ARR / spend (ROAS)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Sheet1!$A$2:$A$4</c:f>
              <c:strCache>
                <c:ptCount val="3"/>
                <c:pt idx="0">
                  <c:v>Paid Search</c:v>
                </c:pt>
                <c:pt idx="1">
                  <c:v>Paid Social</c:v>
                </c:pt>
                <c:pt idx="2">
                  <c:v>Display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0.29436593740245737</c:v>
                </c:pt>
                <c:pt idx="1">
                  <c:v>0.6616258898407212</c:v>
                </c:pt>
                <c:pt idx="2">
                  <c:v>6.617378280582567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Median active days per account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active days per account</c:v>
                </c:pt>
              </c:strCache>
            </c:strRef>
          </c:tx>
          <c:spPr>
            <a:solidFill>
              <a:srgbClr val="00A6A6"/>
            </a:solidFill>
          </c:spPr>
          <c:cat>
            <c:strRef>
              <c:f>Sheet1!$A$2:$A$3</c:f>
              <c:strCache>
                <c:ptCount val="2"/>
                <c:pt idx="0">
                  <c:v>Won</c:v>
                </c:pt>
                <c:pt idx="1">
                  <c:v>Lost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80.5</c:v>
                </c:pt>
                <c:pt idx="1">
                  <c:v>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>
            <a:solidFill>
              <a:srgbClr val="13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Growth analytics: from spend to durable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C9D7E5"/>
                </a:solidFill>
                <a:latin typeface="Aptos"/>
              </a:defRPr>
            </a:pPr>
            <a:r>
              <a:t>Sr. Growth Analyst take-home | Fictional deskbird datasets | Jan–Sep 2025 acquisition; product events through Jan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971800"/>
            <a:ext cx="1280160" cy="73152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2918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scalable model, five decision metrics, and actions to improve efficient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Executive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Attribution connects $1.56m in paid spend to 467 attributed leads, 68 matched-campaign wins and $1.39m in won ARR.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1417320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A6A6"/>
                </a:solidFill>
                <a:latin typeface="Aptos"/>
              </a:defRPr>
            </a:pPr>
            <a:r>
              <a:t>6.6x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Display 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Highest channel 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83280" cy="1417320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19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A6A6"/>
                </a:solidFill>
                <a:latin typeface="Aptos"/>
              </a:defRPr>
            </a:pPr>
            <a:r>
              <a:t>0.3x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Paid Search ROAS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29% return on $451k spend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383280" cy="1417320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71907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A6A6"/>
                </a:solidFill>
                <a:latin typeface="Aptos"/>
              </a:defRPr>
            </a:pPr>
            <a:r>
              <a:t>84.5%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30-day activation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Among closed-won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32238"/>
                </a:solidFill>
                <a:latin typeface="Aptos"/>
              </a:defRPr>
            </a:pPr>
            <a:r>
              <a:t>Reallocate experimental budget away from the two Paid Search campaigns until conversion quality is fixed.</a:t>
            </a:r>
          </a:p>
          <a:p>
            <a:pPr>
              <a:spcAft>
                <a:spcPts val="1400"/>
              </a:spcAft>
              <a:defRPr sz="1700">
                <a:solidFill>
                  <a:srgbClr val="132238"/>
                </a:solidFill>
                <a:latin typeface="Aptos"/>
              </a:defRPr>
            </a:pPr>
            <a:r>
              <a:t>Make 30-day product activation an early leading indicator for trial conversion and sales prioritisation.</a:t>
            </a:r>
          </a:p>
          <a:p>
            <a:pPr>
              <a:spcAft>
                <a:spcPts val="1400"/>
              </a:spcAft>
              <a:defRPr sz="1700">
                <a:solidFill>
                  <a:srgbClr val="132238"/>
                </a:solidFill>
                <a:latin typeface="Aptos"/>
              </a:defRPr>
            </a:pPr>
            <a:r>
              <a:t>Repair channel taxonomy and plan-tier history before using channel or retention cuts for executive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Scalable customer-journey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Conformed campaign and account keys enable spend → lead → revenue → adoption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331720" cy="914400"/>
          </a:xfrm>
          <a:prstGeom prst="round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8249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stg_paid_ads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947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Daily campaign performance</a:t>
            </a:r>
            <a:br/>
            <a:r>
              <a:t>PK: date + campaign_id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233172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1513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stg_crm_leads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4165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Lead &amp; opportunity lifecycle</a:t>
            </a:r>
            <a:br/>
            <a:r>
              <a:t>PK: lead_id | account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45920"/>
            <a:ext cx="2148840" cy="91440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77055" y="177393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dim_campaign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5" y="2039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Campaign / UTM</a:t>
            </a:r>
            <a:br/>
            <a:r>
              <a:t>SCD attributes &amp; taxonomy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931920"/>
            <a:ext cx="2148840" cy="91440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5" y="4059935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dim_account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5" y="4325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Account identity</a:t>
            </a:r>
            <a:br/>
            <a:r>
              <a:t>company_id + domain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645920"/>
            <a:ext cx="2377440" cy="914400"/>
          </a:xfrm>
          <a:prstGeom prst="roundRect">
            <a:avLst/>
          </a:prstGeom>
          <a:solidFill>
            <a:srgbClr val="132238"/>
          </a:solidFill>
          <a:ln>
            <a:solidFill>
              <a:srgbClr val="13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1773936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fct_growth_funnel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0391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Campaign-day funnel</a:t>
            </a:r>
            <a:br/>
            <a:r>
              <a:t>spend, leads, pipeline, ARR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931920"/>
            <a:ext cx="2377440" cy="914400"/>
          </a:xfrm>
          <a:prstGeom prst="roundRect">
            <a:avLst/>
          </a:prstGeom>
          <a:solidFill>
            <a:srgbClr val="132238"/>
          </a:solidFill>
          <a:ln>
            <a:solidFill>
              <a:srgbClr val="13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4059935"/>
            <a:ext cx="2148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fct_account_adoption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43251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Account-day adoption</a:t>
            </a:r>
            <a:br/>
            <a:r>
              <a:t>active users, features, seats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2788920"/>
            <a:ext cx="1965960" cy="1005840"/>
          </a:xfrm>
          <a:prstGeom prst="roundRect">
            <a:avLst/>
          </a:prstGeom>
          <a:solidFill>
            <a:srgbClr val="DC4C64"/>
          </a:solidFill>
          <a:ln>
            <a:solidFill>
              <a:srgbClr val="DC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4936" y="2916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mart_growth_scorecard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4936" y="31821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Aptos"/>
              </a:defRPr>
            </a:pPr>
            <a:r>
              <a:t>Growth scorecard</a:t>
            </a:r>
            <a:br/>
            <a:r>
              <a:t>CAC, win, activation, ROAS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71800" y="2011680"/>
            <a:ext cx="777239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71800" y="4389120"/>
            <a:ext cx="777239" cy="9144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97880" y="2103120"/>
            <a:ext cx="8686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97880" y="4389120"/>
            <a:ext cx="868680" cy="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2103120"/>
            <a:ext cx="502920" cy="96012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144000" y="3474720"/>
            <a:ext cx="502920" cy="914400"/>
          </a:xfrm>
          <a:prstGeom prst="line">
            <a:avLst/>
          </a:prstGeom>
          <a:ln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56235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Grain discipline: preserve daily campaign rows and event-level usage; aggregate only in marts. dbt tests: key uniqueness, referential integrity, accepted taxonomy values, and event-time validity.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Five decision metrics across the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Each metric has a denominator, owner, and action—not just a dashboard tile.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1  Marketing-sourced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4447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66CC"/>
                </a:solidFill>
                <a:latin typeface="Aptos"/>
              </a:defRPr>
            </a:pPr>
            <a:r>
              <a:t>Attributed leads /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4447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Acquisition volume;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10835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39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2  Cost per lead (CPL)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3774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66CC"/>
                </a:solidFill>
                <a:latin typeface="Aptos"/>
              </a:defRPr>
            </a:pPr>
            <a:r>
              <a:t>Paid spend ÷ attributed 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37743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Media efficiency; 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91256"/>
            <a:ext cx="10835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3  Lead → opportunity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310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66CC"/>
                </a:solidFill>
                <a:latin typeface="Aptos"/>
              </a:defRPr>
            </a:pPr>
            <a:r>
              <a:t>Opportunities ÷ leads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Lead quality; Marketing +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23944"/>
            <a:ext cx="10835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4281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4  CAC / won ARR ROAS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24281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66CC"/>
                </a:solidFill>
                <a:latin typeface="Aptos"/>
              </a:defRPr>
            </a:pPr>
            <a:r>
              <a:t>Spend ÷ wins; won ARR ÷ spend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2428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Economic efficiency; Finance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56632"/>
            <a:ext cx="10835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7550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5  30-day activation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1755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66CC"/>
                </a:solidFill>
                <a:latin typeface="Aptos"/>
              </a:defRPr>
            </a:pPr>
            <a:r>
              <a:t>Accounts with ≥30 active days ÷ eligible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51755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"/>
              </a:defRPr>
            </a:pPr>
            <a:r>
              <a:t>Retention signal; Product + 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The conversion funnel has a sharp post-opportunity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14.2% of all leads close won; opportunity-to-win is 43.8%.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577840" cy="594360"/>
          </a:xfrm>
          <a:prstGeom prst="round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55063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Leads: 500 (100.0%)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469416" cy="59436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Trials: 311 (62.2%)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29000"/>
            <a:ext cx="1807220" cy="59436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7530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Opportunities: 162 (32.4%)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89120"/>
            <a:ext cx="792053" cy="594360"/>
          </a:xfrm>
          <a:prstGeom prst="roundRect">
            <a:avLst/>
          </a:prstGeom>
          <a:solidFill>
            <a:srgbClr val="DC4C64"/>
          </a:solidFill>
          <a:ln>
            <a:solidFill>
              <a:srgbClr val="DC4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3542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Won: 71 (14.2%)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32238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874519"/>
            <a:ext cx="39776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2238"/>
                </a:solidFill>
                <a:latin typeface="Aptos"/>
              </a:defRPr>
            </a:pPr>
            <a:r>
              <a:t>62% of leads start a trial (311 / 500).</a:t>
            </a:r>
          </a:p>
          <a:p>
            <a:pPr>
              <a:spcAft>
                <a:spcPts val="1400"/>
              </a:spcAft>
              <a:defRPr sz="1400">
                <a:solidFill>
                  <a:srgbClr val="132238"/>
                </a:solidFill>
                <a:latin typeface="Aptos"/>
              </a:defRPr>
            </a:pPr>
            <a:r>
              <a:t>32% become opportunities (162 / 500).</a:t>
            </a:r>
          </a:p>
          <a:p>
            <a:pPr>
              <a:spcAft>
                <a:spcPts val="1400"/>
              </a:spcAft>
              <a:defRPr sz="1400">
                <a:solidFill>
                  <a:srgbClr val="132238"/>
                </a:solidFill>
                <a:latin typeface="Aptos"/>
              </a:defRPr>
            </a:pPr>
            <a:r>
              <a:t>Prioritise trial activation and opportunity progression; these are the levers closest to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Display produces the strongest observed return, while Paid Search is inefficient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Channel names are raw fields; taxonomy issues on slide 8 mean this is directional pending cleanup.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5806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03720" y="1508760"/>
            <a:ext cx="45720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55063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947672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$88k spend | 29 wins | $3k CAC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17373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A6A6"/>
                </a:solidFill>
                <a:latin typeface="Aptos"/>
              </a:defRPr>
            </a:pPr>
            <a:r>
              <a:t>6.6x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715768"/>
            <a:ext cx="45720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86207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Paid 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154679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$1.02m spend | 32 wins | $32k 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29443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A6A6"/>
                </a:solidFill>
                <a:latin typeface="Aptos"/>
              </a:defRPr>
            </a:pPr>
            <a:r>
              <a:t>0.7x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922776"/>
            <a:ext cx="45720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069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Paid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361688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$451k spend | 7 wins | $64k CAC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41513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A6A6"/>
                </a:solidFill>
                <a:latin typeface="Aptos"/>
              </a:defRPr>
            </a:pPr>
            <a:r>
              <a:t>0.3x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32238"/>
                </a:solidFill>
                <a:latin typeface="Aptos"/>
              </a:defRPr>
            </a:pPr>
            <a:r>
              <a:t>Action: protect Display volume while running incrementality/quality validation; cap Paid Search and audit intent, landing page, and lead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30-day activity is a high-signal conversion indicator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Account activity strongly separates closed-won from closed-lost outcomes in this sample.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29400" y="1691640"/>
            <a:ext cx="2057400" cy="2011680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238"/>
                </a:solidFill>
                <a:latin typeface="Aptos"/>
              </a:defRPr>
            </a:pPr>
            <a:r>
              <a:t>Won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A6A6"/>
                </a:solidFill>
                <a:latin typeface="Aptos"/>
              </a:defRPr>
            </a:pPr>
            <a:r>
              <a:t>84.5%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7706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activated ≥30d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691640"/>
            <a:ext cx="2057400" cy="2011680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32238"/>
                </a:solidFill>
                <a:latin typeface="Aptos"/>
              </a:defRPr>
            </a:pPr>
            <a:r>
              <a:t>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ptos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7706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activated ≥30d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02336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32238"/>
                </a:solidFill>
                <a:latin typeface="Aptos"/>
              </a:defRPr>
            </a:pPr>
            <a:r>
              <a:t>Closed-won median: 80.5 active days and 323.5 events.</a:t>
            </a:r>
          </a:p>
          <a:p>
            <a:pPr>
              <a:spcAft>
                <a:spcPts val="1400"/>
              </a:spcAft>
              <a:defRPr sz="1400">
                <a:solidFill>
                  <a:srgbClr val="132238"/>
                </a:solidFill>
                <a:latin typeface="Aptos"/>
              </a:defRPr>
            </a:pPr>
            <a:r>
              <a:t>Closed-lost median: 15 active days and 52.5 events; none reach 30 active days.</a:t>
            </a:r>
          </a:p>
          <a:p>
            <a:pPr>
              <a:spcAft>
                <a:spcPts val="1400"/>
              </a:spcAft>
              <a:defRPr sz="1400">
                <a:solidFill>
                  <a:srgbClr val="132238"/>
                </a:solidFill>
                <a:latin typeface="Aptos"/>
              </a:defRPr>
            </a:pPr>
            <a:r>
              <a:t>Operationalise: trigger onboarding intervention at day 7; route activated trials to Sales at day 14.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Data anomalies that would mislead a production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These are solvable modeling and instrumentation gaps, not reasons to defer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972800" cy="1261872"/>
          </a:xfrm>
          <a:prstGeom prst="roundRect">
            <a:avLst/>
          </a:prstGeom>
          <a:solidFill>
            <a:srgbClr val="FDF2F3"/>
          </a:solidFill>
          <a:ln>
            <a:solidFill>
              <a:srgbClr val="FDF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4C64"/>
                </a:solidFill>
                <a:latin typeface="Aptos"/>
              </a:defRPr>
            </a:pPr>
            <a:r>
              <a:t>Channel taxonomy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444752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Campaign name suffix conflicts with channel label across 3,003 / 5,187 ad rows (e.g., *_Search marked Paid Social).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44475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Derive a governed channel from source/medium; retain raw fields and test accepted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34639"/>
            <a:ext cx="10972800" cy="1261872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Plan-tier history is unstable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953511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Every observed account has 3–4 plan tiers across its usage events; 60 of 71 wins have 3 tiers, while 75 of 91 losses have 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953511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Use a subscription SCD / effective-dated plan table—do not infer current plan from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43400"/>
            <a:ext cx="10972800" cy="1261872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71416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2238"/>
                </a:solidFill>
                <a:latin typeface="Aptos"/>
              </a:defRPr>
            </a:pPr>
            <a:r>
              <a:t>Coverage and time-window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462272"/>
            <a:ext cx="3657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32238"/>
                </a:solidFill>
                <a:latin typeface="Aptos"/>
              </a:defRPr>
            </a:pPr>
            <a:r>
              <a:t>33 of 500 CRM leads (6.6%) are unattributed; usage runs to Jan 2026, while acquisition data ends Sep 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462272"/>
            <a:ext cx="3611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A6A6"/>
                </a:solidFill>
                <a:latin typeface="Aptos"/>
              </a:defRPr>
            </a:pPr>
            <a:r>
              <a:t>Create an Organic/Unknown channel and set an as-of date / cohort maturity rule.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32238"/>
                </a:solidFill>
                <a:latin typeface="Aptos"/>
              </a:defRPr>
            </a:pPr>
            <a:r>
              <a:t>90-day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4748B"/>
                </a:solidFill>
                <a:latin typeface="Aptos"/>
              </a:defRPr>
            </a:pPr>
            <a:r>
              <a:t>Turn the analysis into an operating cadence with controlled measurement.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914400" cy="36576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0652760" cy="1024128"/>
          </a:xfrm>
          <a:prstGeom prst="roundRect">
            <a:avLst/>
          </a:prstGeom>
          <a:solidFill>
            <a:srgbClr val="EAF7F7"/>
          </a:solidFill>
          <a:ln>
            <a:solidFill>
              <a:srgbClr val="EA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238"/>
                </a:solidFill>
                <a:latin typeface="Aptos"/>
              </a:defRPr>
            </a:pPr>
            <a:r>
              <a:t>0–30 days | Fix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53619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32238"/>
                </a:solidFill>
                <a:latin typeface="Aptos"/>
              </a:defRPr>
            </a:pPr>
            <a:r>
              <a:t>Govern campaign taxonomy and Organic/Unknown; build dim_campaign, dim_account, funnel and adoption marts; reconcile spend and CRM 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10652760" cy="102412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535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238"/>
                </a:solidFill>
                <a:latin typeface="Aptos"/>
              </a:defRPr>
            </a:pPr>
            <a:r>
              <a:t>31–60 days | Improve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53512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32238"/>
                </a:solidFill>
                <a:latin typeface="Aptos"/>
              </a:defRPr>
            </a:pPr>
            <a:r>
              <a:t>Implement trial health score (login, active days, feature use); day-7 onboarding triggers and day-14 sales routing; diagnose Paid Search query/landing-page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06240"/>
            <a:ext cx="10652760" cy="1024128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708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32238"/>
                </a:solidFill>
                <a:latin typeface="Aptos"/>
              </a:defRPr>
            </a:pPr>
            <a:r>
              <a:t>61–90 days | Scale proven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370831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32238"/>
                </a:solidFill>
                <a:latin typeface="Aptos"/>
              </a:defRPr>
            </a:pPr>
            <a:r>
              <a:t>Run a geo/audience holdout for Display; reallocate budget only after incremental CAC validation; review weekly by cohort maturity and 30-day activation.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6A6"/>
                </a:solidFill>
                <a:latin typeface="Aptos"/>
              </a:defRPr>
            </a:pPr>
            <a:r>
              <a:t>Success criterion: decision-ready reporting where every metric has a grain, owner, lineage, quality test, and action threshold.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