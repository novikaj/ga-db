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Revenue returned per $1 of ad spend (ROAS)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returned per $1 of ad spend (ROAS)</c:v>
                </c:pt>
              </c:strCache>
            </c:strRef>
          </c:tx>
          <c:spPr>
            <a:solidFill>
              <a:srgbClr val="00A6A6"/>
            </a:solidFill>
          </c:spPr>
          <c:cat>
            <c:strRef>
              <c:f>Sheet1!$A$2:$A$5</c:f>
              <c:strCache>
                <c:ptCount val="4"/>
                <c:pt idx="0">
                  <c:v>EMEA</c:v>
                </c:pt>
                <c:pt idx="1">
                  <c:v>APAC</c:v>
                </c:pt>
                <c:pt idx="2">
                  <c:v>US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0.3073501541254605</c:v>
                </c:pt>
                <c:pt idx="1">
                  <c:v>1.0224747996726933</c:v>
                </c:pt>
                <c:pt idx="2">
                  <c:v>1.0692059311532665</c:v>
                </c:pt>
                <c:pt idx="3">
                  <c:v>1.2405544960835126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30-day activation rate among won accounts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30-day activation rate among won accounts</c:v>
                </c:pt>
              </c:strCache>
            </c:strRef>
          </c:tx>
          <c:spPr>
            <a:solidFill>
              <a:srgbClr val="00A6A6"/>
            </a:solidFill>
          </c:spPr>
          <c:cat>
            <c:strRef>
              <c:f>Sheet1!$A$2:$A$5</c:f>
              <c:strCache>
                <c:ptCount val="4"/>
                <c:pt idx="0">
                  <c:v>EMEA</c:v>
                </c:pt>
                <c:pt idx="1">
                  <c:v>US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0.8571428571428571</c:v>
                </c:pt>
                <c:pt idx="1">
                  <c:v>0.8</c:v>
                </c:pt>
                <c:pt idx="2">
                  <c:v>0.8095238095238095</c:v>
                </c:pt>
                <c:pt idx="3">
                  <c:v>0.88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>
            <a:solidFill>
              <a:srgbClr val="13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Growth analytics, explained simply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9D7E5"/>
                </a:solidFill>
                <a:latin typeface="Aptos"/>
              </a:defRPr>
            </a:pPr>
            <a:r>
              <a:t>What we measure, why it matters, and where growth needs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88920"/>
            <a:ext cx="1280160" cy="7315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A stakeholder-friendly view of paid marketing, sales conversion, and product adoption.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The simple story: people move through a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We use the same journey to see where money and customers are being lost.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2011680" cy="2011680"/>
          </a:xfrm>
          <a:prstGeom prst="round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1. See an 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9631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Impressions and clicks</a:t>
            </a:r>
            <a:br/>
            <a:r>
              <a:t>Are we getting attention?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2487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3784" y="1737360"/>
            <a:ext cx="2011680" cy="201168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2011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2. Become a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49631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A person shares details</a:t>
            </a:r>
            <a:br/>
            <a:r>
              <a:t>Are we attracting the right people?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487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84648" y="1737360"/>
            <a:ext cx="2011680" cy="20116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011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3. Start a trial / sales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49631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Trial, opportunity</a:t>
            </a:r>
            <a:br/>
            <a:r>
              <a:t>Are they seriously considering us?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2487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1737360"/>
            <a:ext cx="2011680" cy="2011680"/>
          </a:xfrm>
          <a:prstGeom prst="roundRect">
            <a:avLst/>
          </a:prstGeom>
          <a:solidFill>
            <a:srgbClr val="DC4C64"/>
          </a:solidFill>
          <a:ln>
            <a:solidFill>
              <a:srgbClr val="DC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2011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4. Become a 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249631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Closed won + ARR</a:t>
            </a:r>
            <a:br/>
            <a:r>
              <a:t>Did we create revenue?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487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66376" y="1737360"/>
            <a:ext cx="2011680" cy="2011680"/>
          </a:xfrm>
          <a:prstGeom prst="roundRect">
            <a:avLst/>
          </a:prstGeom>
          <a:solidFill>
            <a:srgbClr val="132238"/>
          </a:solidFill>
          <a:ln>
            <a:solidFill>
              <a:srgbClr val="13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3536" y="2011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5. Keep using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3536" y="249631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Logins, active days</a:t>
            </a:r>
            <a:br/>
            <a:r>
              <a:t>Will value stick?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77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32238"/>
                </a:solidFill>
                <a:latin typeface="Aptos"/>
              </a:defRPr>
            </a:pPr>
            <a:r>
              <a:t>Growth analytics is simply the practice of measuring this journey, then improving the weakest step.</a:t>
            </a:r>
          </a:p>
          <a:p>
            <a:pPr>
              <a:spcAft>
                <a:spcPts val="1300"/>
              </a:spcAft>
              <a:defRPr sz="1600">
                <a:solidFill>
                  <a:srgbClr val="132238"/>
                </a:solidFill>
                <a:latin typeface="Aptos"/>
              </a:defRPr>
            </a:pPr>
            <a:r>
              <a:t>We do not judge marketing by clicks alone: the important question is whether it produces customers who get value from the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The five metrics: a small dashboard with a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Together, they answer: Are we buying attention efficiently, converting it, and creating lasting value?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280160"/>
            <a:ext cx="10972800" cy="731520"/>
          </a:xfrm>
          <a:prstGeom prst="roundRect">
            <a:avLst/>
          </a:prstGeom>
          <a:solidFill>
            <a:srgbClr val="EAF7F7"/>
          </a:solidFill>
          <a:ln>
            <a:solidFill>
              <a:srgbClr val="EA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238"/>
                </a:solidFill>
                <a:latin typeface="Aptos"/>
              </a:defRPr>
            </a:pPr>
            <a:r>
              <a:t>Marketing-sourced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389888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66CC"/>
                </a:solidFill>
                <a:latin typeface="Aptos"/>
              </a:defRPr>
            </a:pPr>
            <a:r>
              <a:t>How many people came from a measurable campaign?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389888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Tells us whether marketing is creating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21991"/>
            <a:ext cx="1097280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238"/>
                </a:solidFill>
                <a:latin typeface="Aptos"/>
              </a:defRPr>
            </a:pPr>
            <a:r>
              <a:t>Cost per lead (CPL)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66CC"/>
                </a:solidFill>
                <a:latin typeface="Aptos"/>
              </a:defRPr>
            </a:pPr>
            <a:r>
              <a:t>How much ad money did we spend for each lead?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331720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Lets us compare the price of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163824"/>
            <a:ext cx="1097280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7355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238"/>
                </a:solidFill>
                <a:latin typeface="Aptos"/>
              </a:defRPr>
            </a:pPr>
            <a:r>
              <a:t>Lead → opportunity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73552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66CC"/>
                </a:solidFill>
                <a:latin typeface="Aptos"/>
              </a:defRPr>
            </a:pPr>
            <a:r>
              <a:t>What share of leads became a serious sales conversation?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273552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Shows lead quality, not just volume.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05656"/>
            <a:ext cx="10972800" cy="731520"/>
          </a:xfrm>
          <a:prstGeom prst="roundRect">
            <a:avLst/>
          </a:prstGeom>
          <a:solidFill>
            <a:srgbClr val="EAF7F7"/>
          </a:solidFill>
          <a:ln>
            <a:solidFill>
              <a:srgbClr val="EA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15384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238"/>
                </a:solidFill>
                <a:latin typeface="Aptos"/>
              </a:defRPr>
            </a:pPr>
            <a:r>
              <a:t>CAC and ROAS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215384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66CC"/>
                </a:solidFill>
                <a:latin typeface="Aptos"/>
              </a:defRPr>
            </a:pPr>
            <a:r>
              <a:t>Cost to acquire a customer; revenue returned for every $1 spent.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215384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Shows whether growth pays 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047488"/>
            <a:ext cx="1097280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57216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238"/>
                </a:solidFill>
                <a:latin typeface="Aptos"/>
              </a:defRPr>
            </a:pPr>
            <a:r>
              <a:t>30-day activation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5157216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66CC"/>
                </a:solidFill>
                <a:latin typeface="Aptos"/>
              </a:defRPr>
            </a:pPr>
            <a:r>
              <a:t>Share of accounts active on 30+ different days.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5157216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Early signal that customers found real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Metrics 1–2: are we generating demand at a sensible price?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These are acquisition metrics—the top of the customer journey.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3520440"/>
          </a:xfrm>
          <a:prstGeom prst="roundRect">
            <a:avLst/>
          </a:prstGeom>
          <a:solidFill>
            <a:srgbClr val="EAF7F7"/>
          </a:solidFill>
          <a:ln>
            <a:solidFill>
              <a:srgbClr val="EA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32238"/>
                </a:solidFill>
                <a:latin typeface="Aptos"/>
              </a:defRPr>
            </a:pPr>
            <a:r>
              <a:t>Marketing-sourced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Plain meaning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32238"/>
                </a:solidFill>
                <a:latin typeface="Aptos"/>
              </a:defRPr>
            </a:pPr>
            <a:r>
              <a:t>People who became leads and can be connected to a marketing campaign.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6A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3872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32238"/>
                </a:solidFill>
                <a:latin typeface="Aptos"/>
              </a:defRPr>
            </a:pPr>
            <a:r>
              <a:t>It measures whether marketing creates potential customers—not merely website traffic.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3520440"/>
          </a:xfrm>
          <a:prstGeom prst="round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32238"/>
                </a:solidFill>
                <a:latin typeface="Aptos"/>
              </a:defRPr>
            </a:pPr>
            <a:r>
              <a:t>Cost per lead (CPL)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134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ptos"/>
              </a:defRPr>
            </a:pPr>
            <a:r>
              <a:t>Plain meaning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32238"/>
                </a:solidFill>
                <a:latin typeface="Aptos"/>
              </a:defRPr>
            </a:pPr>
            <a:r>
              <a:t>Ad spend divided by the number of attributable leads.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91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3872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32238"/>
                </a:solidFill>
                <a:latin typeface="Aptos"/>
              </a:defRPr>
            </a:pPr>
            <a:r>
              <a:t>A cheap lead is not automatically good; CPL should be read alongside lead quality and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A6A6"/>
                </a:solidFill>
                <a:latin typeface="Aptos"/>
              </a:defRPr>
            </a:pPr>
            <a:r>
              <a:t>Example: spend $10,000 and receive 20 leads → CPL is $500 per lead.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Metrics 3–5: do leads become customers who get value?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These metrics prevent us from celebrating cheap—but poor-quality—leads.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29000" cy="352044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66CC"/>
                </a:solidFill>
                <a:latin typeface="Aptos"/>
              </a:defRPr>
            </a:pPr>
            <a:r>
              <a:t>Lead → opportunity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880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32238"/>
                </a:solidFill>
                <a:latin typeface="Aptos"/>
              </a:defRPr>
            </a:pPr>
            <a:r>
              <a:t>Of every 100 leads, how many become a meaningful sales opportunity?</a:t>
            </a:r>
            <a:br/>
            <a:br/>
            <a:r>
              <a:t>Why: tells Sales and Marketing whether the audience is a good 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463040"/>
            <a:ext cx="3429000" cy="352044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7647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ptos"/>
              </a:defRPr>
            </a:pPr>
            <a:r>
              <a:t>CAC and ROAS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514600"/>
            <a:ext cx="2880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32238"/>
                </a:solidFill>
                <a:latin typeface="Aptos"/>
              </a:defRPr>
            </a:pPr>
            <a:r>
              <a:t>CAC: ad spend ÷ customers won. ROAS: won revenue ÷ ad spend.</a:t>
            </a:r>
            <a:br/>
            <a:br/>
            <a:r>
              <a:t>Why: tells Finance whether growth is economically worthwhile.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4463" y="1463040"/>
            <a:ext cx="3429000" cy="352044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3" y="17647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A6A6"/>
                </a:solidFill>
                <a:latin typeface="Aptos"/>
              </a:defRPr>
            </a:pPr>
            <a:r>
              <a:t>30-day 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063" y="2514600"/>
            <a:ext cx="2880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32238"/>
                </a:solidFill>
                <a:latin typeface="Aptos"/>
              </a:defRPr>
            </a:pPr>
            <a:r>
              <a:t>Accounts active on at least 30 distinct days.</a:t>
            </a:r>
            <a:br/>
            <a:br/>
            <a:r>
              <a:t>Why: regular use is a practical early sign that the product is valuable.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238"/>
                </a:solidFill>
                <a:latin typeface="Aptos"/>
              </a:defRPr>
            </a:pPr>
            <a:r>
              <a:t>Why these five? They cover the whole business loop: demand, efficiency, quality, revenue, and customer value—without overwhelming a first-time reader.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Regional check: EMEA is the clearest area of concern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This comparison uses the region embedded in campaign names; 33 unattributed leads are excluded.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371600"/>
          <a:ext cx="56692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20840" y="1481328"/>
            <a:ext cx="4754880" cy="841248"/>
          </a:xfrm>
          <a:prstGeom prst="roundRect">
            <a:avLst/>
          </a:prstGeom>
          <a:solidFill>
            <a:srgbClr val="FDF2F3"/>
          </a:solidFill>
          <a:ln>
            <a:solidFill>
              <a:srgbClr val="FD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3677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EMEA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636776"/>
            <a:ext cx="3154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4C64"/>
                </a:solidFill>
                <a:latin typeface="Aptos"/>
              </a:defRPr>
            </a:pPr>
            <a:r>
              <a:t>0.3x ROAS | 8.8% lead-to-win | 7 wins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560320"/>
            <a:ext cx="4754880" cy="84124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7157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APAC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715768"/>
            <a:ext cx="3154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238"/>
                </a:solidFill>
                <a:latin typeface="Aptos"/>
              </a:defRPr>
            </a:pPr>
            <a:r>
              <a:t>1.0x ROAS | 17.1% lead-to-win | 21 wins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639312"/>
            <a:ext cx="4754880" cy="84124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794760"/>
            <a:ext cx="3154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238"/>
                </a:solidFill>
                <a:latin typeface="Aptos"/>
              </a:defRPr>
            </a:pPr>
            <a:r>
              <a:t>1.1x ROAS | 13.2% lead-to-win | 15 wins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718304"/>
            <a:ext cx="4754880" cy="84124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87375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LATAM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873752"/>
            <a:ext cx="3154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32238"/>
                </a:solidFill>
                <a:latin typeface="Aptos"/>
              </a:defRPr>
            </a:pPr>
            <a:r>
              <a:t>1.2x ROAS | 16.7% lead-to-win | 25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338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4C64"/>
                </a:solidFill>
                <a:latin typeface="Aptos"/>
              </a:defRPr>
            </a:pPr>
            <a:r>
              <a:t>EMEA spends nearly as much as APAC ($424k vs. $436k), but produces only 7 wins vs. 21—and just 31¢ of observed won ARR per $1 spent.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What is happening in each region?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The broad pattern is consistent; the size of the commercial problem differs.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932688"/>
          </a:xfrm>
          <a:prstGeom prst="roundRect">
            <a:avLst/>
          </a:prstGeom>
          <a:solidFill>
            <a:srgbClr val="FDF2F3"/>
          </a:solidFill>
          <a:ln>
            <a:solidFill>
              <a:srgbClr val="FD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08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4C64"/>
                </a:solidFill>
                <a:latin typeface="Aptos"/>
              </a:defRPr>
            </a:pPr>
            <a:r>
              <a:t>EMEA — lagging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99031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2238"/>
                </a:solidFill>
                <a:latin typeface="Aptos"/>
              </a:defRPr>
            </a:pPr>
            <a:r>
              <a:t>0.3× ROAS; 8.8% of leads become wins. Paid Search is particularly weak (0.1× ROAS).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399031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Pause and diagnose EMEA Search: search terms, audience, message, landing page, and speed-to-lead.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10972800" cy="93268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51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APAC — strong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542032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2238"/>
                </a:solidFill>
                <a:latin typeface="Aptos"/>
              </a:defRPr>
            </a:pPr>
            <a:r>
              <a:t>1.0× ROAS; 17.1% lead-to-win. Display returns 8.6× observed spend.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54203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Protect Display; test incremental budget in controlled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10972800" cy="93268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LATAM — strongest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685032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2238"/>
                </a:solidFill>
                <a:latin typeface="Aptos"/>
              </a:defRPr>
            </a:pPr>
            <a:r>
              <a:t>1.2× ROAS; 16.7% lead-to-win. Display returns 8.3× observed spend.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68503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Use as the benchmark market for campaign and landing-page practices.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10972800" cy="93268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37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US — middle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828032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2238"/>
                </a:solidFill>
                <a:latin typeface="Aptos"/>
              </a:defRPr>
            </a:pPr>
            <a:r>
              <a:t>1.1× ROAS; best lead-to-opportunity rate (37.7%), but fewer wins than LATAM/APAC.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82803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Investigate sales follow-up and later-stage conversion, not just top-of-funnel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One finding is true in every region: sustained usage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Product adoption is not a technical detail—it is a leading indicator of sales success.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417320"/>
          <a:ext cx="5486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160020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32238"/>
                </a:solidFill>
                <a:latin typeface="Aptos"/>
              </a:defRPr>
            </a:pPr>
            <a:r>
              <a:t>In every measured region, 80%+ of closed-won accounts are active for at least 30 days.</a:t>
            </a:r>
          </a:p>
          <a:p>
            <a:pPr>
              <a:spcAft>
                <a:spcPts val="1300"/>
              </a:spcAft>
              <a:defRPr sz="1500">
                <a:solidFill>
                  <a:srgbClr val="132238"/>
                </a:solidFill>
                <a:latin typeface="Aptos"/>
              </a:defRPr>
            </a:pPr>
            <a:r>
              <a:t>Closed-lost accounts in every region have a median of only 14–15 active days and none reaches 30 active days.</a:t>
            </a:r>
          </a:p>
          <a:p>
            <a:pPr>
              <a:spcAft>
                <a:spcPts val="1300"/>
              </a:spcAft>
              <a:defRPr sz="1500">
                <a:solidFill>
                  <a:srgbClr val="132238"/>
                </a:solidFill>
                <a:latin typeface="Aptos"/>
              </a:defRPr>
            </a:pPr>
            <a:r>
              <a:t>What to do: help trial accounts get to meaningful use quickly—onboarding nudges at day 7, then sales follow-up for engaged accounts at day 14.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A few data issues need fixing before major budget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The direction is useful today, but these cleanups make the next decision much safer.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972800" cy="1115568"/>
          </a:xfrm>
          <a:prstGeom prst="roundRect">
            <a:avLst/>
          </a:prstGeom>
          <a:solidFill>
            <a:srgbClr val="FDF2F3"/>
          </a:solidFill>
          <a:ln>
            <a:solidFill>
              <a:srgbClr val="FD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4C64"/>
                </a:solidFill>
                <a:latin typeface="Aptos"/>
              </a:defRPr>
            </a:pPr>
            <a:r>
              <a:t>Channel labels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435607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2238"/>
                </a:solidFill>
                <a:latin typeface="Aptos"/>
              </a:defRPr>
            </a:pPr>
            <a:r>
              <a:t>3,003 ad records have a campaign name that says one thing (e.g., Search) and a channel field that says another (e.g., Paid Social).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3560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Use one agreed channel classification, while retaining the original raw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70048"/>
            <a:ext cx="10972800" cy="111556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072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Plan tier changes in event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80720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2238"/>
                </a:solidFill>
                <a:latin typeface="Aptos"/>
              </a:defRPr>
            </a:pPr>
            <a:r>
              <a:t>Every account with usage appears under 3–4 different plan tiers.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8072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Keep a separate, dated subscription table; do not infer plan from activity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41648"/>
            <a:ext cx="10972800" cy="111556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788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Different time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17880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2238"/>
                </a:solidFill>
                <a:latin typeface="Aptos"/>
              </a:defRPr>
            </a:pPr>
            <a:r>
              <a:t>Ads and CRM end in Sep 2025; product events continue to Jan 2026. 33 leads lack campaign attribution.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1788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Compare mature cohorts only and label unattributed leads Organic/Unknown.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What I would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A practical sequence: fix measurement, improve activation, then scale only validated demand.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932688"/>
          </a:xfrm>
          <a:prstGeom prst="roundRect">
            <a:avLst/>
          </a:prstGeom>
          <a:solidFill>
            <a:srgbClr val="EAF7F7"/>
          </a:solidFill>
          <a:ln>
            <a:solidFill>
              <a:srgbClr val="EA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81912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A6"/>
                </a:solidFill>
                <a:latin typeface="Aptos"/>
              </a:defRPr>
            </a:pPr>
            <a:r>
              <a:t>This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581912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32238"/>
                </a:solidFill>
                <a:latin typeface="Aptos"/>
              </a:defRPr>
            </a:pPr>
            <a:r>
              <a:t>Agree the campaign taxonomy and dashboard definitions. Set EMEA Paid Search guardrails while investigating the funnel.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15768"/>
            <a:ext cx="10652760" cy="93268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A6"/>
                </a:solidFill>
                <a:latin typeface="Aptos"/>
              </a:defRPr>
            </a:pPr>
            <a:r>
              <a:t>Next 30–60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80360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32238"/>
                </a:solidFill>
                <a:latin typeface="Aptos"/>
              </a:defRPr>
            </a:pPr>
            <a:r>
              <a:t>Introduce a trial health score based on active days, logins, and feature use. Trigger onboarding at day 7 and sales outreach at day 14.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14215"/>
            <a:ext cx="10652760" cy="93268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78807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A6"/>
                </a:solidFill>
                <a:latin typeface="Aptos"/>
              </a:defRPr>
            </a:pPr>
            <a:r>
              <a:t>Next 60–90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178807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32238"/>
                </a:solidFill>
                <a:latin typeface="Aptos"/>
              </a:defRPr>
            </a:pPr>
            <a:r>
              <a:t>Run a controlled test before increasing Display spend; use a holdout or matched-market test to separate real lift from attribution.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692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238"/>
                </a:solidFill>
                <a:latin typeface="Aptos"/>
              </a:defRPr>
            </a:pPr>
            <a:r>
              <a:t>The goal is not more reporting. It is faster, more confident decisions about where to spend and how to help prospects succeed.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